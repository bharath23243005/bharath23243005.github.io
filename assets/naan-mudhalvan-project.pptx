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MuseoModerno Medium"/>
      <p:regular r:id="rId17"/>
    </p:embeddedFont>
    <p:embeddedFont>
      <p:font typeface="MuseoModerno Medium"/>
      <p:regular r:id="rId18"/>
    </p:embeddedFont>
    <p:embeddedFont>
      <p:font typeface="MuseoModerno Medium"/>
      <p:regular r:id="rId19"/>
    </p:embeddedFont>
    <p:embeddedFont>
      <p:font typeface="MuseoModerno Medium"/>
      <p:regular r:id="rId20"/>
    </p:embeddedFont>
    <p:embeddedFont>
      <p:font typeface="Source Sans 3"/>
      <p:regular r:id="rId21"/>
    </p:embeddedFont>
    <p:embeddedFont>
      <p:font typeface="Source Sans 3"/>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8.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3406021"/>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AI-Based Disease Prediction System</a:t>
            </a:r>
            <a:endParaRPr lang="en-US" sz="4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501622"/>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1. Introduction</a:t>
            </a:r>
            <a:endParaRPr lang="en-US" sz="4450" dirty="0"/>
          </a:p>
        </p:txBody>
      </p:sp>
      <p:sp>
        <p:nvSpPr>
          <p:cNvPr id="4" name="Text 1"/>
          <p:cNvSpPr/>
          <p:nvPr/>
        </p:nvSpPr>
        <p:spPr>
          <a:xfrm>
            <a:off x="793790" y="3550563"/>
            <a:ext cx="7556421" cy="2177415"/>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Artificial Intelligence (AI) is widely used in healthcare to predict diseases using patient data. The AI-Based Disease Prediction System helps to identify possible diseases based on symptoms entered by the user. This system uses machine learning algorithms to analyze patient symptoms and predict the most likely disease. It helps doctors and patients to get an early idea about health conditions.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2498765"/>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2. Objective</a:t>
            </a:r>
            <a:endParaRPr lang="en-US" sz="4450" dirty="0"/>
          </a:p>
        </p:txBody>
      </p:sp>
      <p:sp>
        <p:nvSpPr>
          <p:cNvPr id="3" name="Shape 1"/>
          <p:cNvSpPr/>
          <p:nvPr/>
        </p:nvSpPr>
        <p:spPr>
          <a:xfrm>
            <a:off x="793790" y="3661172"/>
            <a:ext cx="4196358" cy="2069544"/>
          </a:xfrm>
          <a:prstGeom prst="roundRect">
            <a:avLst>
              <a:gd name="adj" fmla="val 1644"/>
            </a:avLst>
          </a:prstGeom>
          <a:solidFill>
            <a:srgbClr val="F3EEE3"/>
          </a:solidFill>
          <a:ln/>
        </p:spPr>
      </p:sp>
      <p:sp>
        <p:nvSpPr>
          <p:cNvPr id="4" name="Shape 2"/>
          <p:cNvSpPr/>
          <p:nvPr/>
        </p:nvSpPr>
        <p:spPr>
          <a:xfrm>
            <a:off x="1020604" y="3887986"/>
            <a:ext cx="680442" cy="680442"/>
          </a:xfrm>
          <a:prstGeom prst="roundRect">
            <a:avLst>
              <a:gd name="adj" fmla="val 13436980"/>
            </a:avLst>
          </a:prstGeom>
          <a:solidFill>
            <a:srgbClr val="325F7B"/>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07770" y="4075033"/>
            <a:ext cx="306110" cy="306110"/>
          </a:xfrm>
          <a:prstGeom prst="rect">
            <a:avLst/>
          </a:prstGeom>
        </p:spPr>
      </p:pic>
      <p:sp>
        <p:nvSpPr>
          <p:cNvPr id="6" name="Text 3"/>
          <p:cNvSpPr/>
          <p:nvPr/>
        </p:nvSpPr>
        <p:spPr>
          <a:xfrm>
            <a:off x="1020604" y="4795242"/>
            <a:ext cx="3742730" cy="708660"/>
          </a:xfrm>
          <a:prstGeom prst="rect">
            <a:avLst/>
          </a:prstGeom>
          <a:noFill/>
          <a:ln/>
        </p:spPr>
        <p:txBody>
          <a:bodyPr wrap="squar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To develop a system that predicts diseases using AI.</a:t>
            </a:r>
            <a:endParaRPr lang="en-US" sz="2200" dirty="0"/>
          </a:p>
        </p:txBody>
      </p:sp>
      <p:sp>
        <p:nvSpPr>
          <p:cNvPr id="7" name="Shape 4"/>
          <p:cNvSpPr/>
          <p:nvPr/>
        </p:nvSpPr>
        <p:spPr>
          <a:xfrm>
            <a:off x="5216962" y="3661172"/>
            <a:ext cx="4196358" cy="2069544"/>
          </a:xfrm>
          <a:prstGeom prst="roundRect">
            <a:avLst>
              <a:gd name="adj" fmla="val 1644"/>
            </a:avLst>
          </a:prstGeom>
          <a:solidFill>
            <a:srgbClr val="F3EEE3"/>
          </a:solidFill>
          <a:ln/>
        </p:spPr>
      </p:sp>
      <p:sp>
        <p:nvSpPr>
          <p:cNvPr id="8" name="Shape 5"/>
          <p:cNvSpPr/>
          <p:nvPr/>
        </p:nvSpPr>
        <p:spPr>
          <a:xfrm>
            <a:off x="5443776" y="3887986"/>
            <a:ext cx="680442" cy="680442"/>
          </a:xfrm>
          <a:prstGeom prst="roundRect">
            <a:avLst>
              <a:gd name="adj" fmla="val 13436980"/>
            </a:avLst>
          </a:prstGeom>
          <a:solidFill>
            <a:srgbClr val="325F7B"/>
          </a:solidFill>
          <a:ln/>
        </p:spPr>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30942" y="4075033"/>
            <a:ext cx="306110" cy="306110"/>
          </a:xfrm>
          <a:prstGeom prst="rect">
            <a:avLst/>
          </a:prstGeom>
        </p:spPr>
      </p:pic>
      <p:sp>
        <p:nvSpPr>
          <p:cNvPr id="10" name="Text 6"/>
          <p:cNvSpPr/>
          <p:nvPr/>
        </p:nvSpPr>
        <p:spPr>
          <a:xfrm>
            <a:off x="5443776" y="4795242"/>
            <a:ext cx="3742730" cy="708660"/>
          </a:xfrm>
          <a:prstGeom prst="rect">
            <a:avLst/>
          </a:prstGeom>
          <a:noFill/>
          <a:ln/>
        </p:spPr>
        <p:txBody>
          <a:bodyPr wrap="squar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To reduce the time required for disease diagnosis.</a:t>
            </a:r>
            <a:endParaRPr lang="en-US" sz="2200" dirty="0"/>
          </a:p>
        </p:txBody>
      </p:sp>
      <p:sp>
        <p:nvSpPr>
          <p:cNvPr id="11" name="Shape 7"/>
          <p:cNvSpPr/>
          <p:nvPr/>
        </p:nvSpPr>
        <p:spPr>
          <a:xfrm>
            <a:off x="9640133" y="3661172"/>
            <a:ext cx="4196358" cy="2069544"/>
          </a:xfrm>
          <a:prstGeom prst="roundRect">
            <a:avLst>
              <a:gd name="adj" fmla="val 1644"/>
            </a:avLst>
          </a:prstGeom>
          <a:solidFill>
            <a:srgbClr val="F3EEE3"/>
          </a:solidFill>
          <a:ln/>
        </p:spPr>
      </p:sp>
      <p:sp>
        <p:nvSpPr>
          <p:cNvPr id="12" name="Shape 8"/>
          <p:cNvSpPr/>
          <p:nvPr/>
        </p:nvSpPr>
        <p:spPr>
          <a:xfrm>
            <a:off x="9866948" y="3887986"/>
            <a:ext cx="680442" cy="680442"/>
          </a:xfrm>
          <a:prstGeom prst="roundRect">
            <a:avLst>
              <a:gd name="adj" fmla="val 13436980"/>
            </a:avLst>
          </a:prstGeom>
          <a:solidFill>
            <a:srgbClr val="325F7B"/>
          </a:solidFill>
          <a:ln/>
        </p:spPr>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54114" y="4075033"/>
            <a:ext cx="306110" cy="306110"/>
          </a:xfrm>
          <a:prstGeom prst="rect">
            <a:avLst/>
          </a:prstGeom>
        </p:spPr>
      </p:pic>
      <p:sp>
        <p:nvSpPr>
          <p:cNvPr id="14" name="Text 9"/>
          <p:cNvSpPr/>
          <p:nvPr/>
        </p:nvSpPr>
        <p:spPr>
          <a:xfrm>
            <a:off x="9866948" y="4795242"/>
            <a:ext cx="3742730" cy="708660"/>
          </a:xfrm>
          <a:prstGeom prst="rect">
            <a:avLst/>
          </a:prstGeom>
          <a:noFill/>
          <a:ln/>
        </p:spPr>
        <p:txBody>
          <a:bodyPr wrap="squar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To provide early health suggestions to users.</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683312"/>
            <a:ext cx="5987296" cy="708779"/>
          </a:xfrm>
          <a:prstGeom prst="rect">
            <a:avLst/>
          </a:prstGeom>
          <a:noFill/>
          <a:ln/>
        </p:spPr>
        <p:txBody>
          <a:bodyPr wrap="none" lIns="0" tIns="0" rIns="0" bIns="0" rtlCol="0" anchor="t"/>
          <a:lstStyle/>
          <a:p>
            <a:pPr algn="l" indent="0" marL="0">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3. Problem Statement</a:t>
            </a:r>
            <a:endParaRPr lang="en-US" sz="4450" dirty="0"/>
          </a:p>
        </p:txBody>
      </p:sp>
      <p:sp>
        <p:nvSpPr>
          <p:cNvPr id="4" name="Text 1"/>
          <p:cNvSpPr/>
          <p:nvPr/>
        </p:nvSpPr>
        <p:spPr>
          <a:xfrm>
            <a:off x="793790" y="3732252"/>
            <a:ext cx="7556421" cy="1814036"/>
          </a:xfrm>
          <a:prstGeom prst="rect">
            <a:avLst/>
          </a:prstGeom>
          <a:noFill/>
          <a:ln/>
        </p:spPr>
        <p:txBody>
          <a:bodyPr wrap="square" lIns="0" tIns="0" rIns="0" bIns="0" rtlCol="0" anchor="t"/>
          <a:lstStyle/>
          <a:p>
            <a:pPr algn="l" indent="0" marL="0">
              <a:lnSpc>
                <a:spcPts val="3550"/>
              </a:lnSpc>
              <a:buNone/>
            </a:pPr>
            <a:r>
              <a:rPr lang="en-US" sz="2200" dirty="0">
                <a:solidFill>
                  <a:srgbClr val="2B4150"/>
                </a:solidFill>
                <a:latin typeface="Source Sans 3" pitchFamily="34" charset="0"/>
                <a:ea typeface="Source Sans 3" pitchFamily="34" charset="-122"/>
                <a:cs typeface="Source Sans 3" pitchFamily="34" charset="-120"/>
              </a:rPr>
              <a:t>Many people do not know which disease they may have based on their symptoms. Visiting hospitals for every small symptom is difficult. Therefore, an intelligent system is needed to analyze symptoms and predict possible diseases quickly.</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273612"/>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4. Methodology</a:t>
            </a:r>
            <a:endParaRPr lang="en-US" sz="4450" dirty="0"/>
          </a:p>
        </p:txBody>
      </p:sp>
      <p:sp>
        <p:nvSpPr>
          <p:cNvPr id="3" name="Text 1"/>
          <p:cNvSpPr/>
          <p:nvPr/>
        </p:nvSpPr>
        <p:spPr>
          <a:xfrm>
            <a:off x="793790" y="2436019"/>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The system collects symptoms from users and compares them with a medical dataset. Machine learning algorithms analyze the data and predict the possible disease.</a:t>
            </a:r>
            <a:endParaRPr lang="en-US" sz="1750" dirty="0"/>
          </a:p>
        </p:txBody>
      </p:sp>
      <p:sp>
        <p:nvSpPr>
          <p:cNvPr id="4" name="Text 2"/>
          <p:cNvSpPr/>
          <p:nvPr/>
        </p:nvSpPr>
        <p:spPr>
          <a:xfrm>
            <a:off x="793790" y="3501985"/>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124E73"/>
                </a:solidFill>
                <a:latin typeface="MuseoModerno Medium" pitchFamily="34" charset="0"/>
                <a:ea typeface="MuseoModerno Medium" pitchFamily="34" charset="-122"/>
                <a:cs typeface="MuseoModerno Medium" pitchFamily="34" charset="-120"/>
              </a:rPr>
              <a:t>Steps:</a:t>
            </a:r>
            <a:endParaRPr lang="en-US" sz="2650" dirty="0"/>
          </a:p>
        </p:txBody>
      </p:sp>
      <p:sp>
        <p:nvSpPr>
          <p:cNvPr id="5" name="Text 3"/>
          <p:cNvSpPr/>
          <p:nvPr/>
        </p:nvSpPr>
        <p:spPr>
          <a:xfrm>
            <a:off x="793790" y="4267438"/>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2B4150"/>
                </a:solidFill>
                <a:latin typeface="MuseoModerno Light" pitchFamily="34" charset="0"/>
                <a:ea typeface="MuseoModerno Light" pitchFamily="34" charset="-122"/>
                <a:cs typeface="MuseoModerno Light" pitchFamily="34" charset="-120"/>
              </a:rPr>
              <a:t>01</a:t>
            </a:r>
            <a:endParaRPr lang="en-US" sz="1750" dirty="0"/>
          </a:p>
        </p:txBody>
      </p:sp>
      <p:sp>
        <p:nvSpPr>
          <p:cNvPr id="6" name="Shape 4"/>
          <p:cNvSpPr/>
          <p:nvPr/>
        </p:nvSpPr>
        <p:spPr>
          <a:xfrm>
            <a:off x="793790" y="4622483"/>
            <a:ext cx="4196358" cy="30480"/>
          </a:xfrm>
          <a:prstGeom prst="rect">
            <a:avLst/>
          </a:prstGeom>
          <a:solidFill>
            <a:srgbClr val="325F7B"/>
          </a:solidFill>
          <a:ln/>
        </p:spPr>
      </p:sp>
      <p:sp>
        <p:nvSpPr>
          <p:cNvPr id="7" name="Text 5"/>
          <p:cNvSpPr/>
          <p:nvPr/>
        </p:nvSpPr>
        <p:spPr>
          <a:xfrm>
            <a:off x="793790" y="4796790"/>
            <a:ext cx="4196358" cy="708660"/>
          </a:xfrm>
          <a:prstGeom prst="rect">
            <a:avLst/>
          </a:prstGeom>
          <a:noFill/>
          <a:ln/>
        </p:spPr>
        <p:txBody>
          <a:bodyPr wrap="squar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Collect dataset of diseases and symptoms.</a:t>
            </a:r>
            <a:endParaRPr lang="en-US" sz="2200" dirty="0"/>
          </a:p>
        </p:txBody>
      </p:sp>
      <p:sp>
        <p:nvSpPr>
          <p:cNvPr id="8" name="Text 6"/>
          <p:cNvSpPr/>
          <p:nvPr/>
        </p:nvSpPr>
        <p:spPr>
          <a:xfrm>
            <a:off x="5216962" y="4267438"/>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2B4150"/>
                </a:solidFill>
                <a:latin typeface="MuseoModerno Light" pitchFamily="34" charset="0"/>
                <a:ea typeface="MuseoModerno Light" pitchFamily="34" charset="-122"/>
                <a:cs typeface="MuseoModerno Light" pitchFamily="34" charset="-120"/>
              </a:rPr>
              <a:t>02</a:t>
            </a:r>
            <a:endParaRPr lang="en-US" sz="1750" dirty="0"/>
          </a:p>
        </p:txBody>
      </p:sp>
      <p:sp>
        <p:nvSpPr>
          <p:cNvPr id="9" name="Shape 7"/>
          <p:cNvSpPr/>
          <p:nvPr/>
        </p:nvSpPr>
        <p:spPr>
          <a:xfrm>
            <a:off x="5216962" y="4622483"/>
            <a:ext cx="4196358" cy="30480"/>
          </a:xfrm>
          <a:prstGeom prst="rect">
            <a:avLst/>
          </a:prstGeom>
          <a:solidFill>
            <a:srgbClr val="325F7B"/>
          </a:solidFill>
          <a:ln/>
        </p:spPr>
      </p:sp>
      <p:sp>
        <p:nvSpPr>
          <p:cNvPr id="10" name="Text 8"/>
          <p:cNvSpPr/>
          <p:nvPr/>
        </p:nvSpPr>
        <p:spPr>
          <a:xfrm>
            <a:off x="5216962" y="4796790"/>
            <a:ext cx="4196358" cy="708660"/>
          </a:xfrm>
          <a:prstGeom prst="rect">
            <a:avLst/>
          </a:prstGeom>
          <a:noFill/>
          <a:ln/>
        </p:spPr>
        <p:txBody>
          <a:bodyPr wrap="squar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Clean and preprocess the data.</a:t>
            </a:r>
            <a:endParaRPr lang="en-US" sz="2200" dirty="0"/>
          </a:p>
        </p:txBody>
      </p:sp>
      <p:sp>
        <p:nvSpPr>
          <p:cNvPr id="11" name="Text 9"/>
          <p:cNvSpPr/>
          <p:nvPr/>
        </p:nvSpPr>
        <p:spPr>
          <a:xfrm>
            <a:off x="9640133" y="4267438"/>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2B4150"/>
                </a:solidFill>
                <a:latin typeface="MuseoModerno Light" pitchFamily="34" charset="0"/>
                <a:ea typeface="MuseoModerno Light" pitchFamily="34" charset="-122"/>
                <a:cs typeface="MuseoModerno Light" pitchFamily="34" charset="-120"/>
              </a:rPr>
              <a:t>03</a:t>
            </a:r>
            <a:endParaRPr lang="en-US" sz="1750" dirty="0"/>
          </a:p>
        </p:txBody>
      </p:sp>
      <p:sp>
        <p:nvSpPr>
          <p:cNvPr id="12" name="Shape 10"/>
          <p:cNvSpPr/>
          <p:nvPr/>
        </p:nvSpPr>
        <p:spPr>
          <a:xfrm>
            <a:off x="9640133" y="4622483"/>
            <a:ext cx="4196358" cy="30480"/>
          </a:xfrm>
          <a:prstGeom prst="rect">
            <a:avLst/>
          </a:prstGeom>
          <a:solidFill>
            <a:srgbClr val="325F7B"/>
          </a:solidFill>
          <a:ln/>
        </p:spPr>
      </p:sp>
      <p:sp>
        <p:nvSpPr>
          <p:cNvPr id="13" name="Text 11"/>
          <p:cNvSpPr/>
          <p:nvPr/>
        </p:nvSpPr>
        <p:spPr>
          <a:xfrm>
            <a:off x="9640133" y="4796790"/>
            <a:ext cx="4196358" cy="708660"/>
          </a:xfrm>
          <a:prstGeom prst="rect">
            <a:avLst/>
          </a:prstGeom>
          <a:noFill/>
          <a:ln/>
        </p:spPr>
        <p:txBody>
          <a:bodyPr wrap="squar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Train the machine learning model.</a:t>
            </a:r>
            <a:endParaRPr lang="en-US" sz="2200" dirty="0"/>
          </a:p>
        </p:txBody>
      </p:sp>
      <p:sp>
        <p:nvSpPr>
          <p:cNvPr id="14" name="Text 12"/>
          <p:cNvSpPr/>
          <p:nvPr/>
        </p:nvSpPr>
        <p:spPr>
          <a:xfrm>
            <a:off x="793790" y="5902285"/>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2B4150"/>
                </a:solidFill>
                <a:latin typeface="MuseoModerno Light" pitchFamily="34" charset="0"/>
                <a:ea typeface="MuseoModerno Light" pitchFamily="34" charset="-122"/>
                <a:cs typeface="MuseoModerno Light" pitchFamily="34" charset="-120"/>
              </a:rPr>
              <a:t>04</a:t>
            </a:r>
            <a:endParaRPr lang="en-US" sz="1750" dirty="0"/>
          </a:p>
        </p:txBody>
      </p:sp>
      <p:sp>
        <p:nvSpPr>
          <p:cNvPr id="15" name="Shape 13"/>
          <p:cNvSpPr/>
          <p:nvPr/>
        </p:nvSpPr>
        <p:spPr>
          <a:xfrm>
            <a:off x="793790" y="6257330"/>
            <a:ext cx="6407944" cy="30480"/>
          </a:xfrm>
          <a:prstGeom prst="rect">
            <a:avLst/>
          </a:prstGeom>
          <a:solidFill>
            <a:srgbClr val="325F7B"/>
          </a:solidFill>
          <a:ln/>
        </p:spPr>
      </p:sp>
      <p:sp>
        <p:nvSpPr>
          <p:cNvPr id="16" name="Text 14"/>
          <p:cNvSpPr/>
          <p:nvPr/>
        </p:nvSpPr>
        <p:spPr>
          <a:xfrm>
            <a:off x="793790" y="6431637"/>
            <a:ext cx="4342448" cy="354330"/>
          </a:xfrm>
          <a:prstGeom prst="rect">
            <a:avLst/>
          </a:prstGeom>
          <a:noFill/>
          <a:ln/>
        </p:spPr>
        <p:txBody>
          <a:bodyPr wrap="non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Input symptoms from the user.</a:t>
            </a:r>
            <a:endParaRPr lang="en-US" sz="2200" dirty="0"/>
          </a:p>
        </p:txBody>
      </p:sp>
      <p:sp>
        <p:nvSpPr>
          <p:cNvPr id="17" name="Text 15"/>
          <p:cNvSpPr/>
          <p:nvPr/>
        </p:nvSpPr>
        <p:spPr>
          <a:xfrm>
            <a:off x="7428548" y="5902285"/>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2B4150"/>
                </a:solidFill>
                <a:latin typeface="MuseoModerno Light" pitchFamily="34" charset="0"/>
                <a:ea typeface="MuseoModerno Light" pitchFamily="34" charset="-122"/>
                <a:cs typeface="MuseoModerno Light" pitchFamily="34" charset="-120"/>
              </a:rPr>
              <a:t>05</a:t>
            </a:r>
            <a:endParaRPr lang="en-US" sz="1750" dirty="0"/>
          </a:p>
        </p:txBody>
      </p:sp>
      <p:sp>
        <p:nvSpPr>
          <p:cNvPr id="18" name="Shape 16"/>
          <p:cNvSpPr/>
          <p:nvPr/>
        </p:nvSpPr>
        <p:spPr>
          <a:xfrm>
            <a:off x="7428548" y="6257330"/>
            <a:ext cx="6407944" cy="30480"/>
          </a:xfrm>
          <a:prstGeom prst="rect">
            <a:avLst/>
          </a:prstGeom>
          <a:solidFill>
            <a:srgbClr val="325F7B"/>
          </a:solidFill>
          <a:ln/>
        </p:spPr>
      </p:sp>
      <p:sp>
        <p:nvSpPr>
          <p:cNvPr id="19" name="Text 17"/>
          <p:cNvSpPr/>
          <p:nvPr/>
        </p:nvSpPr>
        <p:spPr>
          <a:xfrm>
            <a:off x="7428548" y="6431637"/>
            <a:ext cx="6014799" cy="354330"/>
          </a:xfrm>
          <a:prstGeom prst="rect">
            <a:avLst/>
          </a:prstGeom>
          <a:noFill/>
          <a:ln/>
        </p:spPr>
        <p:txBody>
          <a:bodyPr wrap="non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Predict the disease using the trained model.</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370290"/>
            <a:ext cx="6884789" cy="708779"/>
          </a:xfrm>
          <a:prstGeom prst="rect">
            <a:avLst/>
          </a:prstGeom>
          <a:noFill/>
          <a:ln/>
        </p:spPr>
        <p:txBody>
          <a:bodyPr wrap="none" lIns="0" tIns="0" rIns="0" bIns="0" rtlCol="0" anchor="t"/>
          <a:lstStyle/>
          <a:p>
            <a:pPr algn="l" indent="0" marL="0">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5. Tools and Technologies</a:t>
            </a:r>
            <a:endParaRPr lang="en-US" sz="4450" dirty="0"/>
          </a:p>
        </p:txBody>
      </p:sp>
      <p:sp>
        <p:nvSpPr>
          <p:cNvPr id="4" name="Shape 1"/>
          <p:cNvSpPr/>
          <p:nvPr/>
        </p:nvSpPr>
        <p:spPr>
          <a:xfrm>
            <a:off x="793790" y="2419231"/>
            <a:ext cx="7556421" cy="939879"/>
          </a:xfrm>
          <a:prstGeom prst="roundRect">
            <a:avLst>
              <a:gd name="adj" fmla="val 3620"/>
            </a:avLst>
          </a:prstGeom>
          <a:solidFill>
            <a:srgbClr val="FFFCF5"/>
          </a:solidFill>
          <a:ln w="30480">
            <a:solidFill>
              <a:srgbClr val="D9D4C9"/>
            </a:solidFill>
            <a:prstDash val="solid"/>
          </a:ln>
        </p:spPr>
      </p:sp>
      <p:sp>
        <p:nvSpPr>
          <p:cNvPr id="5" name="Text 2"/>
          <p:cNvSpPr/>
          <p:nvPr/>
        </p:nvSpPr>
        <p:spPr>
          <a:xfrm>
            <a:off x="1051084" y="2676525"/>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2B4150"/>
                </a:solidFill>
                <a:latin typeface="MuseoModerno Medium" pitchFamily="34" charset="0"/>
                <a:ea typeface="MuseoModerno Medium" pitchFamily="34" charset="-122"/>
                <a:cs typeface="MuseoModerno Medium" pitchFamily="34" charset="-120"/>
              </a:rPr>
              <a:t>Python</a:t>
            </a:r>
            <a:endParaRPr lang="en-US" sz="2650" dirty="0"/>
          </a:p>
        </p:txBody>
      </p:sp>
      <p:sp>
        <p:nvSpPr>
          <p:cNvPr id="6" name="Shape 3"/>
          <p:cNvSpPr/>
          <p:nvPr/>
        </p:nvSpPr>
        <p:spPr>
          <a:xfrm>
            <a:off x="793790" y="3585924"/>
            <a:ext cx="7556421" cy="939879"/>
          </a:xfrm>
          <a:prstGeom prst="roundRect">
            <a:avLst>
              <a:gd name="adj" fmla="val 3620"/>
            </a:avLst>
          </a:prstGeom>
          <a:solidFill>
            <a:srgbClr val="FFFCF5"/>
          </a:solidFill>
          <a:ln w="30480">
            <a:solidFill>
              <a:srgbClr val="D9D4C9"/>
            </a:solidFill>
            <a:prstDash val="solid"/>
          </a:ln>
        </p:spPr>
      </p:sp>
      <p:sp>
        <p:nvSpPr>
          <p:cNvPr id="7" name="Text 4"/>
          <p:cNvSpPr/>
          <p:nvPr/>
        </p:nvSpPr>
        <p:spPr>
          <a:xfrm>
            <a:off x="1051084" y="3843218"/>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2B4150"/>
                </a:solidFill>
                <a:latin typeface="MuseoModerno Medium" pitchFamily="34" charset="0"/>
                <a:ea typeface="MuseoModerno Medium" pitchFamily="34" charset="-122"/>
                <a:cs typeface="MuseoModerno Medium" pitchFamily="34" charset="-120"/>
              </a:rPr>
              <a:t>Pandas</a:t>
            </a:r>
            <a:endParaRPr lang="en-US" sz="2650" dirty="0"/>
          </a:p>
        </p:txBody>
      </p:sp>
      <p:sp>
        <p:nvSpPr>
          <p:cNvPr id="8" name="Shape 5"/>
          <p:cNvSpPr/>
          <p:nvPr/>
        </p:nvSpPr>
        <p:spPr>
          <a:xfrm>
            <a:off x="793790" y="4752618"/>
            <a:ext cx="7556421" cy="939879"/>
          </a:xfrm>
          <a:prstGeom prst="roundRect">
            <a:avLst>
              <a:gd name="adj" fmla="val 3620"/>
            </a:avLst>
          </a:prstGeom>
          <a:solidFill>
            <a:srgbClr val="FFFCF5"/>
          </a:solidFill>
          <a:ln w="30480">
            <a:solidFill>
              <a:srgbClr val="D9D4C9"/>
            </a:solidFill>
            <a:prstDash val="solid"/>
          </a:ln>
        </p:spPr>
      </p:sp>
      <p:sp>
        <p:nvSpPr>
          <p:cNvPr id="9" name="Text 6"/>
          <p:cNvSpPr/>
          <p:nvPr/>
        </p:nvSpPr>
        <p:spPr>
          <a:xfrm>
            <a:off x="1051084" y="5009912"/>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2B4150"/>
                </a:solidFill>
                <a:latin typeface="MuseoModerno Medium" pitchFamily="34" charset="0"/>
                <a:ea typeface="MuseoModerno Medium" pitchFamily="34" charset="-122"/>
                <a:cs typeface="MuseoModerno Medium" pitchFamily="34" charset="-120"/>
              </a:rPr>
              <a:t>NumPy</a:t>
            </a:r>
            <a:endParaRPr lang="en-US" sz="2650" dirty="0"/>
          </a:p>
        </p:txBody>
      </p:sp>
      <p:sp>
        <p:nvSpPr>
          <p:cNvPr id="10" name="Shape 7"/>
          <p:cNvSpPr/>
          <p:nvPr/>
        </p:nvSpPr>
        <p:spPr>
          <a:xfrm>
            <a:off x="793790" y="5919311"/>
            <a:ext cx="7556421" cy="939879"/>
          </a:xfrm>
          <a:prstGeom prst="roundRect">
            <a:avLst>
              <a:gd name="adj" fmla="val 3620"/>
            </a:avLst>
          </a:prstGeom>
          <a:solidFill>
            <a:srgbClr val="FFFCF5"/>
          </a:solidFill>
          <a:ln w="30480">
            <a:solidFill>
              <a:srgbClr val="D9D4C9"/>
            </a:solidFill>
            <a:prstDash val="solid"/>
          </a:ln>
        </p:spPr>
      </p:sp>
      <p:sp>
        <p:nvSpPr>
          <p:cNvPr id="11" name="Text 8"/>
          <p:cNvSpPr/>
          <p:nvPr/>
        </p:nvSpPr>
        <p:spPr>
          <a:xfrm>
            <a:off x="1051084" y="6176605"/>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2B4150"/>
                </a:solidFill>
                <a:latin typeface="MuseoModerno Medium" pitchFamily="34" charset="0"/>
                <a:ea typeface="MuseoModerno Medium" pitchFamily="34" charset="-122"/>
                <a:cs typeface="MuseoModerno Medium" pitchFamily="34" charset="-120"/>
              </a:rPr>
              <a:t>Scikit-learn</a:t>
            </a:r>
            <a:endParaRPr lang="en-US" sz="2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09136" y="577810"/>
            <a:ext cx="5432703" cy="633174"/>
          </a:xfrm>
          <a:prstGeom prst="rect">
            <a:avLst/>
          </a:prstGeom>
          <a:noFill/>
          <a:ln/>
        </p:spPr>
        <p:txBody>
          <a:bodyPr wrap="none" lIns="0" tIns="0" rIns="0" bIns="0" rtlCol="0" anchor="t"/>
          <a:lstStyle/>
          <a:p>
            <a:pPr algn="l" indent="0" marL="0">
              <a:lnSpc>
                <a:spcPts val="4950"/>
              </a:lnSpc>
              <a:buNone/>
            </a:pPr>
            <a:r>
              <a:rPr lang="en-US" sz="3950" dirty="0">
                <a:solidFill>
                  <a:srgbClr val="124E73"/>
                </a:solidFill>
                <a:latin typeface="MuseoModerno Medium" pitchFamily="34" charset="0"/>
                <a:ea typeface="MuseoModerno Medium" pitchFamily="34" charset="-122"/>
                <a:cs typeface="MuseoModerno Medium" pitchFamily="34" charset="-120"/>
              </a:rPr>
              <a:t>6. System Architecture</a:t>
            </a:r>
            <a:endParaRPr lang="en-US" sz="3950" dirty="0"/>
          </a:p>
        </p:txBody>
      </p:sp>
      <p:pic>
        <p:nvPicPr>
          <p:cNvPr id="3" name="Image 0" descr="preencoded.png">    </p:cNvPr>
          <p:cNvPicPr>
            <a:picLocks noChangeAspect="1"/>
          </p:cNvPicPr>
          <p:nvPr/>
        </p:nvPicPr>
        <p:blipFill>
          <a:blip r:embed="rId1"/>
          <a:stretch>
            <a:fillRect/>
          </a:stretch>
        </p:blipFill>
        <p:spPr>
          <a:xfrm>
            <a:off x="709136" y="1572935"/>
            <a:ext cx="1013103" cy="1215747"/>
          </a:xfrm>
          <a:prstGeom prst="rect">
            <a:avLst/>
          </a:prstGeom>
        </p:spPr>
      </p:pic>
      <p:sp>
        <p:nvSpPr>
          <p:cNvPr id="4" name="Text 1"/>
          <p:cNvSpPr/>
          <p:nvPr/>
        </p:nvSpPr>
        <p:spPr>
          <a:xfrm>
            <a:off x="1903214" y="1775460"/>
            <a:ext cx="2775585" cy="316468"/>
          </a:xfrm>
          <a:prstGeom prst="rect">
            <a:avLst/>
          </a:prstGeom>
          <a:noFill/>
          <a:ln/>
        </p:spPr>
        <p:txBody>
          <a:bodyPr wrap="none" lIns="0" tIns="0" rIns="0" bIns="0" rtlCol="0" anchor="t"/>
          <a:lstStyle/>
          <a:p>
            <a:pPr algn="l" indent="0" marL="0">
              <a:lnSpc>
                <a:spcPts val="2450"/>
              </a:lnSpc>
              <a:buNone/>
            </a:pPr>
            <a:r>
              <a:rPr lang="en-US" sz="1950" dirty="0">
                <a:solidFill>
                  <a:srgbClr val="2B4150"/>
                </a:solidFill>
                <a:latin typeface="MuseoModerno Medium" pitchFamily="34" charset="0"/>
                <a:ea typeface="MuseoModerno Medium" pitchFamily="34" charset="-122"/>
                <a:cs typeface="MuseoModerno Medium" pitchFamily="34" charset="-120"/>
              </a:rPr>
              <a:t>User enters symptoms</a:t>
            </a:r>
            <a:endParaRPr lang="en-US" sz="1950" dirty="0"/>
          </a:p>
        </p:txBody>
      </p:sp>
      <p:pic>
        <p:nvPicPr>
          <p:cNvPr id="5" name="Image 1" descr="preencoded.png">    </p:cNvPr>
          <p:cNvPicPr>
            <a:picLocks noChangeAspect="1"/>
          </p:cNvPicPr>
          <p:nvPr/>
        </p:nvPicPr>
        <p:blipFill>
          <a:blip r:embed="rId2"/>
          <a:stretch>
            <a:fillRect/>
          </a:stretch>
        </p:blipFill>
        <p:spPr>
          <a:xfrm>
            <a:off x="709136" y="2788682"/>
            <a:ext cx="1013103" cy="1215747"/>
          </a:xfrm>
          <a:prstGeom prst="rect">
            <a:avLst/>
          </a:prstGeom>
        </p:spPr>
      </p:pic>
      <p:sp>
        <p:nvSpPr>
          <p:cNvPr id="6" name="Text 2"/>
          <p:cNvSpPr/>
          <p:nvPr/>
        </p:nvSpPr>
        <p:spPr>
          <a:xfrm>
            <a:off x="1903214" y="2991207"/>
            <a:ext cx="2532817" cy="316468"/>
          </a:xfrm>
          <a:prstGeom prst="rect">
            <a:avLst/>
          </a:prstGeom>
          <a:noFill/>
          <a:ln/>
        </p:spPr>
        <p:txBody>
          <a:bodyPr wrap="none" lIns="0" tIns="0" rIns="0" bIns="0" rtlCol="0" anchor="t"/>
          <a:lstStyle/>
          <a:p>
            <a:pPr algn="l" indent="0" marL="0">
              <a:lnSpc>
                <a:spcPts val="2450"/>
              </a:lnSpc>
              <a:buNone/>
            </a:pPr>
            <a:r>
              <a:rPr lang="en-US" sz="1950" dirty="0">
                <a:solidFill>
                  <a:srgbClr val="2B4150"/>
                </a:solidFill>
                <a:latin typeface="MuseoModerno Medium" pitchFamily="34" charset="0"/>
                <a:ea typeface="MuseoModerno Medium" pitchFamily="34" charset="-122"/>
                <a:cs typeface="MuseoModerno Medium" pitchFamily="34" charset="-120"/>
              </a:rPr>
              <a:t>Data processing</a:t>
            </a:r>
            <a:endParaRPr lang="en-US" sz="1950" dirty="0"/>
          </a:p>
        </p:txBody>
      </p:sp>
      <p:pic>
        <p:nvPicPr>
          <p:cNvPr id="7" name="Image 2" descr="preencoded.png">    </p:cNvPr>
          <p:cNvPicPr>
            <a:picLocks noChangeAspect="1"/>
          </p:cNvPicPr>
          <p:nvPr/>
        </p:nvPicPr>
        <p:blipFill>
          <a:blip r:embed="rId3"/>
          <a:stretch>
            <a:fillRect/>
          </a:stretch>
        </p:blipFill>
        <p:spPr>
          <a:xfrm>
            <a:off x="709136" y="4004429"/>
            <a:ext cx="1013103" cy="1215747"/>
          </a:xfrm>
          <a:prstGeom prst="rect">
            <a:avLst/>
          </a:prstGeom>
        </p:spPr>
      </p:pic>
      <p:sp>
        <p:nvSpPr>
          <p:cNvPr id="8" name="Text 3"/>
          <p:cNvSpPr/>
          <p:nvPr/>
        </p:nvSpPr>
        <p:spPr>
          <a:xfrm>
            <a:off x="1903214" y="4206954"/>
            <a:ext cx="3025140" cy="316468"/>
          </a:xfrm>
          <a:prstGeom prst="rect">
            <a:avLst/>
          </a:prstGeom>
          <a:noFill/>
          <a:ln/>
        </p:spPr>
        <p:txBody>
          <a:bodyPr wrap="none" lIns="0" tIns="0" rIns="0" bIns="0" rtlCol="0" anchor="t"/>
          <a:lstStyle/>
          <a:p>
            <a:pPr algn="l" indent="0" marL="0">
              <a:lnSpc>
                <a:spcPts val="2450"/>
              </a:lnSpc>
              <a:buNone/>
            </a:pPr>
            <a:r>
              <a:rPr lang="en-US" sz="1950" dirty="0">
                <a:solidFill>
                  <a:srgbClr val="2B4150"/>
                </a:solidFill>
                <a:latin typeface="MuseoModerno Medium" pitchFamily="34" charset="0"/>
                <a:ea typeface="MuseoModerno Medium" pitchFamily="34" charset="-122"/>
                <a:cs typeface="MuseoModerno Medium" pitchFamily="34" charset="-120"/>
              </a:rPr>
              <a:t>Machine Learning model</a:t>
            </a:r>
            <a:endParaRPr lang="en-US" sz="1950" dirty="0"/>
          </a:p>
        </p:txBody>
      </p:sp>
      <p:pic>
        <p:nvPicPr>
          <p:cNvPr id="9" name="Image 3" descr="preencoded.png">    </p:cNvPr>
          <p:cNvPicPr>
            <a:picLocks noChangeAspect="1"/>
          </p:cNvPicPr>
          <p:nvPr/>
        </p:nvPicPr>
        <p:blipFill>
          <a:blip r:embed="rId4"/>
          <a:stretch>
            <a:fillRect/>
          </a:stretch>
        </p:blipFill>
        <p:spPr>
          <a:xfrm>
            <a:off x="709136" y="5220176"/>
            <a:ext cx="1013103" cy="1215747"/>
          </a:xfrm>
          <a:prstGeom prst="rect">
            <a:avLst/>
          </a:prstGeom>
        </p:spPr>
      </p:pic>
      <p:sp>
        <p:nvSpPr>
          <p:cNvPr id="10" name="Text 4"/>
          <p:cNvSpPr/>
          <p:nvPr/>
        </p:nvSpPr>
        <p:spPr>
          <a:xfrm>
            <a:off x="1903214" y="5422702"/>
            <a:ext cx="2532817" cy="316468"/>
          </a:xfrm>
          <a:prstGeom prst="rect">
            <a:avLst/>
          </a:prstGeom>
          <a:noFill/>
          <a:ln/>
        </p:spPr>
        <p:txBody>
          <a:bodyPr wrap="none" lIns="0" tIns="0" rIns="0" bIns="0" rtlCol="0" anchor="t"/>
          <a:lstStyle/>
          <a:p>
            <a:pPr algn="l" indent="0" marL="0">
              <a:lnSpc>
                <a:spcPts val="2450"/>
              </a:lnSpc>
              <a:buNone/>
            </a:pPr>
            <a:r>
              <a:rPr lang="en-US" sz="1950" dirty="0">
                <a:solidFill>
                  <a:srgbClr val="2B4150"/>
                </a:solidFill>
                <a:latin typeface="MuseoModerno Medium" pitchFamily="34" charset="0"/>
                <a:ea typeface="MuseoModerno Medium" pitchFamily="34" charset="-122"/>
                <a:cs typeface="MuseoModerno Medium" pitchFamily="34" charset="-120"/>
              </a:rPr>
              <a:t>Disease prediction</a:t>
            </a:r>
            <a:endParaRPr lang="en-US" sz="1950" dirty="0"/>
          </a:p>
        </p:txBody>
      </p:sp>
      <p:pic>
        <p:nvPicPr>
          <p:cNvPr id="11" name="Image 4" descr="preencoded.png">    </p:cNvPr>
          <p:cNvPicPr>
            <a:picLocks noChangeAspect="1"/>
          </p:cNvPicPr>
          <p:nvPr/>
        </p:nvPicPr>
        <p:blipFill>
          <a:blip r:embed="rId5"/>
          <a:stretch>
            <a:fillRect/>
          </a:stretch>
        </p:blipFill>
        <p:spPr>
          <a:xfrm>
            <a:off x="709136" y="6435923"/>
            <a:ext cx="1013103" cy="1215747"/>
          </a:xfrm>
          <a:prstGeom prst="rect">
            <a:avLst/>
          </a:prstGeom>
        </p:spPr>
      </p:pic>
      <p:sp>
        <p:nvSpPr>
          <p:cNvPr id="12" name="Text 5"/>
          <p:cNvSpPr/>
          <p:nvPr/>
        </p:nvSpPr>
        <p:spPr>
          <a:xfrm>
            <a:off x="1903214" y="6638449"/>
            <a:ext cx="2532817" cy="316468"/>
          </a:xfrm>
          <a:prstGeom prst="rect">
            <a:avLst/>
          </a:prstGeom>
          <a:noFill/>
          <a:ln/>
        </p:spPr>
        <p:txBody>
          <a:bodyPr wrap="none" lIns="0" tIns="0" rIns="0" bIns="0" rtlCol="0" anchor="t"/>
          <a:lstStyle/>
          <a:p>
            <a:pPr algn="l" indent="0" marL="0">
              <a:lnSpc>
                <a:spcPts val="2450"/>
              </a:lnSpc>
              <a:buNone/>
            </a:pPr>
            <a:r>
              <a:rPr lang="en-US" sz="1950" dirty="0">
                <a:solidFill>
                  <a:srgbClr val="2B4150"/>
                </a:solidFill>
                <a:latin typeface="MuseoModerno Medium" pitchFamily="34" charset="0"/>
                <a:ea typeface="MuseoModerno Medium" pitchFamily="34" charset="-122"/>
                <a:cs typeface="MuseoModerno Medium" pitchFamily="34" charset="-120"/>
              </a:rPr>
              <a:t>Result display</a:t>
            </a:r>
            <a:endParaRPr lang="en-US" sz="1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2605088"/>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7. Advantages</a:t>
            </a:r>
            <a:endParaRPr lang="en-US" sz="4450" dirty="0"/>
          </a:p>
        </p:txBody>
      </p:sp>
      <p:sp>
        <p:nvSpPr>
          <p:cNvPr id="3" name="Shape 1"/>
          <p:cNvSpPr/>
          <p:nvPr/>
        </p:nvSpPr>
        <p:spPr>
          <a:xfrm>
            <a:off x="793790" y="3767495"/>
            <a:ext cx="510302" cy="510302"/>
          </a:xfrm>
          <a:prstGeom prst="roundRect">
            <a:avLst>
              <a:gd name="adj" fmla="val 6667"/>
            </a:avLst>
          </a:prstGeom>
          <a:solidFill>
            <a:srgbClr val="F3EEE3"/>
          </a:solidFill>
          <a:ln/>
        </p:spPr>
      </p:sp>
      <p:sp>
        <p:nvSpPr>
          <p:cNvPr id="4" name="Text 2"/>
          <p:cNvSpPr/>
          <p:nvPr/>
        </p:nvSpPr>
        <p:spPr>
          <a:xfrm>
            <a:off x="1530906" y="3810000"/>
            <a:ext cx="3776901" cy="425291"/>
          </a:xfrm>
          <a:prstGeom prst="rect">
            <a:avLst/>
          </a:prstGeom>
          <a:noFill/>
          <a:ln/>
        </p:spPr>
        <p:txBody>
          <a:bodyPr wrap="none" lIns="0" tIns="0" rIns="0" bIns="0" rtlCol="0" anchor="t"/>
          <a:lstStyle/>
          <a:p>
            <a:pPr algn="l" indent="0" marL="0">
              <a:lnSpc>
                <a:spcPts val="3300"/>
              </a:lnSpc>
              <a:buNone/>
            </a:pPr>
            <a:r>
              <a:rPr lang="en-US" sz="2650" dirty="0">
                <a:solidFill>
                  <a:srgbClr val="325F7B"/>
                </a:solidFill>
                <a:latin typeface="MuseoModerno Medium" pitchFamily="34" charset="0"/>
                <a:ea typeface="MuseoModerno Medium" pitchFamily="34" charset="-122"/>
                <a:cs typeface="MuseoModerno Medium" pitchFamily="34" charset="-120"/>
              </a:rPr>
              <a:t>Fast disease prediction</a:t>
            </a:r>
            <a:endParaRPr lang="en-US" sz="2650" dirty="0"/>
          </a:p>
        </p:txBody>
      </p:sp>
      <p:sp>
        <p:nvSpPr>
          <p:cNvPr id="5" name="Shape 3"/>
          <p:cNvSpPr/>
          <p:nvPr/>
        </p:nvSpPr>
        <p:spPr>
          <a:xfrm>
            <a:off x="7456884" y="3767495"/>
            <a:ext cx="510302" cy="510302"/>
          </a:xfrm>
          <a:prstGeom prst="roundRect">
            <a:avLst>
              <a:gd name="adj" fmla="val 6667"/>
            </a:avLst>
          </a:prstGeom>
          <a:solidFill>
            <a:srgbClr val="F3EEE3"/>
          </a:solidFill>
          <a:ln/>
        </p:spPr>
      </p:sp>
      <p:sp>
        <p:nvSpPr>
          <p:cNvPr id="6" name="Text 4"/>
          <p:cNvSpPr/>
          <p:nvPr/>
        </p:nvSpPr>
        <p:spPr>
          <a:xfrm>
            <a:off x="8194000" y="3810000"/>
            <a:ext cx="3926562" cy="425291"/>
          </a:xfrm>
          <a:prstGeom prst="rect">
            <a:avLst/>
          </a:prstGeom>
          <a:noFill/>
          <a:ln/>
        </p:spPr>
        <p:txBody>
          <a:bodyPr wrap="none" lIns="0" tIns="0" rIns="0" bIns="0" rtlCol="0" anchor="t"/>
          <a:lstStyle/>
          <a:p>
            <a:pPr algn="l" indent="0" marL="0">
              <a:lnSpc>
                <a:spcPts val="3300"/>
              </a:lnSpc>
              <a:buNone/>
            </a:pPr>
            <a:r>
              <a:rPr lang="en-US" sz="2650" dirty="0">
                <a:solidFill>
                  <a:srgbClr val="325F7B"/>
                </a:solidFill>
                <a:latin typeface="MuseoModerno Medium" pitchFamily="34" charset="0"/>
                <a:ea typeface="MuseoModerno Medium" pitchFamily="34" charset="-122"/>
                <a:cs typeface="MuseoModerno Medium" pitchFamily="34" charset="-120"/>
              </a:rPr>
              <a:t>Helps in early diagnosis</a:t>
            </a:r>
            <a:endParaRPr lang="en-US" sz="2650" dirty="0"/>
          </a:p>
        </p:txBody>
      </p:sp>
      <p:sp>
        <p:nvSpPr>
          <p:cNvPr id="7" name="Shape 5"/>
          <p:cNvSpPr/>
          <p:nvPr/>
        </p:nvSpPr>
        <p:spPr>
          <a:xfrm>
            <a:off x="793790" y="4731425"/>
            <a:ext cx="510302" cy="510302"/>
          </a:xfrm>
          <a:prstGeom prst="roundRect">
            <a:avLst>
              <a:gd name="adj" fmla="val 6667"/>
            </a:avLst>
          </a:prstGeom>
          <a:solidFill>
            <a:srgbClr val="F3EEE3"/>
          </a:solidFill>
          <a:ln/>
        </p:spPr>
      </p:sp>
      <p:sp>
        <p:nvSpPr>
          <p:cNvPr id="8" name="Text 6"/>
          <p:cNvSpPr/>
          <p:nvPr/>
        </p:nvSpPr>
        <p:spPr>
          <a:xfrm>
            <a:off x="1530906" y="4773930"/>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325F7B"/>
                </a:solidFill>
                <a:latin typeface="MuseoModerno Medium" pitchFamily="34" charset="0"/>
                <a:ea typeface="MuseoModerno Medium" pitchFamily="34" charset="-122"/>
                <a:cs typeface="MuseoModerno Medium" pitchFamily="34" charset="-120"/>
              </a:rPr>
              <a:t>Easy to use system</a:t>
            </a:r>
            <a:endParaRPr lang="en-US" sz="2650" dirty="0"/>
          </a:p>
        </p:txBody>
      </p:sp>
      <p:sp>
        <p:nvSpPr>
          <p:cNvPr id="9" name="Shape 7"/>
          <p:cNvSpPr/>
          <p:nvPr/>
        </p:nvSpPr>
        <p:spPr>
          <a:xfrm>
            <a:off x="7456884" y="4731425"/>
            <a:ext cx="510302" cy="510302"/>
          </a:xfrm>
          <a:prstGeom prst="roundRect">
            <a:avLst>
              <a:gd name="adj" fmla="val 6667"/>
            </a:avLst>
          </a:prstGeom>
          <a:solidFill>
            <a:srgbClr val="F3EEE3"/>
          </a:solidFill>
          <a:ln/>
        </p:spPr>
      </p:sp>
      <p:sp>
        <p:nvSpPr>
          <p:cNvPr id="10" name="Text 8"/>
          <p:cNvSpPr/>
          <p:nvPr/>
        </p:nvSpPr>
        <p:spPr>
          <a:xfrm>
            <a:off x="8194000" y="4773930"/>
            <a:ext cx="5642610" cy="850583"/>
          </a:xfrm>
          <a:prstGeom prst="rect">
            <a:avLst/>
          </a:prstGeom>
          <a:noFill/>
          <a:ln/>
        </p:spPr>
        <p:txBody>
          <a:bodyPr wrap="square" lIns="0" tIns="0" rIns="0" bIns="0" rtlCol="0" anchor="t"/>
          <a:lstStyle/>
          <a:p>
            <a:pPr algn="l" indent="0" marL="0">
              <a:lnSpc>
                <a:spcPts val="3300"/>
              </a:lnSpc>
              <a:buNone/>
            </a:pPr>
            <a:r>
              <a:rPr lang="en-US" sz="2650" dirty="0">
                <a:solidFill>
                  <a:srgbClr val="325F7B"/>
                </a:solidFill>
                <a:latin typeface="MuseoModerno Medium" pitchFamily="34" charset="0"/>
                <a:ea typeface="MuseoModerno Medium" pitchFamily="34" charset="-122"/>
                <a:cs typeface="MuseoModerno Medium" pitchFamily="34" charset="-120"/>
              </a:rPr>
              <a:t>Supports healthcare decision making</a:t>
            </a:r>
            <a:endParaRPr lang="en-US" sz="2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910007"/>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8. Future Scope</a:t>
            </a:r>
            <a:endParaRPr lang="en-US" sz="4450" dirty="0"/>
          </a:p>
        </p:txBody>
      </p:sp>
      <p:sp>
        <p:nvSpPr>
          <p:cNvPr id="4" name="Text 1"/>
          <p:cNvSpPr/>
          <p:nvPr/>
        </p:nvSpPr>
        <p:spPr>
          <a:xfrm>
            <a:off x="793790" y="3958947"/>
            <a:ext cx="7556421" cy="1360527"/>
          </a:xfrm>
          <a:prstGeom prst="rect">
            <a:avLst/>
          </a:prstGeom>
          <a:noFill/>
          <a:ln/>
        </p:spPr>
        <p:txBody>
          <a:bodyPr wrap="square" lIns="0" tIns="0" rIns="0" bIns="0" rtlCol="0" anchor="t"/>
          <a:lstStyle/>
          <a:p>
            <a:pPr algn="l" indent="0" marL="0">
              <a:lnSpc>
                <a:spcPts val="3550"/>
              </a:lnSpc>
              <a:buNone/>
            </a:pPr>
            <a:r>
              <a:rPr lang="en-US" sz="2200" dirty="0">
                <a:solidFill>
                  <a:srgbClr val="2B4150"/>
                </a:solidFill>
                <a:latin typeface="Source Sans 3" pitchFamily="34" charset="0"/>
                <a:ea typeface="Source Sans 3" pitchFamily="34" charset="-122"/>
                <a:cs typeface="Source Sans 3" pitchFamily="34" charset="-120"/>
              </a:rPr>
              <a:t>In the future, this system can be improved by integrating real hospital data, adding more diseases, and connecting with mobile applications for better healthcare support.</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683312"/>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9. Conclusion</a:t>
            </a:r>
            <a:endParaRPr lang="en-US" sz="4450" dirty="0"/>
          </a:p>
        </p:txBody>
      </p:sp>
      <p:sp>
        <p:nvSpPr>
          <p:cNvPr id="4" name="Text 1"/>
          <p:cNvSpPr/>
          <p:nvPr/>
        </p:nvSpPr>
        <p:spPr>
          <a:xfrm>
            <a:off x="6280190" y="3732252"/>
            <a:ext cx="7556421" cy="1814036"/>
          </a:xfrm>
          <a:prstGeom prst="rect">
            <a:avLst/>
          </a:prstGeom>
          <a:noFill/>
          <a:ln/>
        </p:spPr>
        <p:txBody>
          <a:bodyPr wrap="square" lIns="0" tIns="0" rIns="0" bIns="0" rtlCol="0" anchor="t"/>
          <a:lstStyle/>
          <a:p>
            <a:pPr algn="l" indent="0" marL="0">
              <a:lnSpc>
                <a:spcPts val="3550"/>
              </a:lnSpc>
              <a:buNone/>
            </a:pPr>
            <a:r>
              <a:rPr lang="en-US" sz="2200" dirty="0">
                <a:solidFill>
                  <a:srgbClr val="2B4150"/>
                </a:solidFill>
                <a:latin typeface="Source Sans 3" pitchFamily="34" charset="0"/>
                <a:ea typeface="Source Sans 3" pitchFamily="34" charset="-122"/>
                <a:cs typeface="Source Sans 3" pitchFamily="34" charset="-120"/>
              </a:rPr>
              <a:t>The AI-Based Disease Prediction System helps to predict diseases using machine learning techniques. It improves healthcare services by providing quick and accurate disease predictions.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2026-03-08T04:20:01Z</dcterms:created>
  <dcterms:modified xsi:type="dcterms:W3CDTF">2026-03-08T04:20:01Z</dcterms:modified>
</cp:coreProperties>
</file>